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Familjen Grotesk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FamiljenGrotesk-regular.fntdata"/><Relationship Id="rId11" Type="http://schemas.openxmlformats.org/officeDocument/2006/relationships/slide" Target="slides/slide6.xml"/><Relationship Id="rId22" Type="http://schemas.openxmlformats.org/officeDocument/2006/relationships/font" Target="fonts/FamiljenGrotesk-italic.fntdata"/><Relationship Id="rId10" Type="http://schemas.openxmlformats.org/officeDocument/2006/relationships/slide" Target="slides/slide5.xml"/><Relationship Id="rId21" Type="http://schemas.openxmlformats.org/officeDocument/2006/relationships/font" Target="fonts/FamiljenGrotesk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FamiljenGrotesk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c05ad86a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c05ad86a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c05ad86a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c05ad86a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05ad86ad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05ad86ad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cc05ad86ad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cc05ad86ad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cc05ad86a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cc05ad86a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cc05ad86a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cc05ad86a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cc05ad86ad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cc05ad86ad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dd360c98f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edd360c98f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cc05ad86ad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cc05ad86ad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c05ad86ad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cc05ad86ad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8a6c76ab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8a6c76ab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c05ad86a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c05ad86a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cc05ad86ad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cc05ad86ad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420256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3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Game Title</a:t>
            </a:r>
            <a:endParaRPr sz="63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5315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A Tagline that sets the tone for the game</a:t>
            </a:r>
            <a:endParaRPr sz="250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mc:AlternateContent>
    <mc:Choice Requires="p14">
      <p:transition p14:dur="200">
        <p:fade thruBlk="1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86262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3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Elevator Pitch</a:t>
            </a:r>
            <a:endParaRPr sz="63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248163"/>
            <a:ext cx="8520600" cy="18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Game X Meets Game Y, with a pinch of Game Z</a:t>
            </a:r>
            <a:b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</a:br>
            <a:b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</a:b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What is the Core feeling this game wants to generate?</a:t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What type of gamer will resonate with this game?</a:t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567600" y="141900"/>
            <a:ext cx="5264700" cy="10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56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Mechanic 1</a:t>
            </a:r>
            <a:endParaRPr sz="56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4165350" y="1106100"/>
            <a:ext cx="40692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48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Explanation of Mechanic 1</a:t>
            </a:r>
            <a:r>
              <a:rPr lang="en-GB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68" name="Google Shape;68;p15"/>
          <p:cNvSpPr txBox="1"/>
          <p:nvPr>
            <p:ph type="ctrTitle"/>
          </p:nvPr>
        </p:nvSpPr>
        <p:spPr>
          <a:xfrm>
            <a:off x="279175" y="2971453"/>
            <a:ext cx="5264700" cy="10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56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Mechanic 2</a:t>
            </a:r>
            <a:endParaRPr sz="56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876925" y="3935653"/>
            <a:ext cx="40692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48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Explanation of Mechanic 2</a:t>
            </a:r>
            <a:r>
              <a:rPr lang="en-GB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cxnSp>
        <p:nvCxnSpPr>
          <p:cNvPr id="70" name="Google Shape;70;p15"/>
          <p:cNvCxnSpPr/>
          <p:nvPr/>
        </p:nvCxnSpPr>
        <p:spPr>
          <a:xfrm flipH="1" rot="10800000">
            <a:off x="0" y="2158425"/>
            <a:ext cx="9149100" cy="556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" name="Google Shape;71;p15"/>
          <p:cNvSpPr/>
          <p:nvPr/>
        </p:nvSpPr>
        <p:spPr>
          <a:xfrm>
            <a:off x="451000" y="329375"/>
            <a:ext cx="3263400" cy="17736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5"/>
          <p:cNvSpPr/>
          <p:nvPr/>
        </p:nvSpPr>
        <p:spPr>
          <a:xfrm>
            <a:off x="5356700" y="2824503"/>
            <a:ext cx="3263400" cy="17736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5"/>
          <p:cNvSpPr txBox="1"/>
          <p:nvPr>
            <p:ph idx="1" type="subTitle"/>
          </p:nvPr>
        </p:nvSpPr>
        <p:spPr>
          <a:xfrm>
            <a:off x="1464250" y="819875"/>
            <a:ext cx="1236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latin typeface="Familjen Grotesk"/>
                <a:ea typeface="Familjen Grotesk"/>
                <a:cs typeface="Familjen Grotesk"/>
                <a:sym typeface="Familjen Grotesk"/>
              </a:rPr>
              <a:t>GIF</a:t>
            </a:r>
            <a:r>
              <a:rPr lang="en-GB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74" name="Google Shape;74;p15"/>
          <p:cNvSpPr txBox="1"/>
          <p:nvPr>
            <p:ph idx="1" type="subTitle"/>
          </p:nvPr>
        </p:nvSpPr>
        <p:spPr>
          <a:xfrm>
            <a:off x="6369950" y="3495900"/>
            <a:ext cx="1236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latin typeface="Familjen Grotesk"/>
                <a:ea typeface="Familjen Grotesk"/>
                <a:cs typeface="Familjen Grotesk"/>
                <a:sym typeface="Familjen Grotesk"/>
              </a:rPr>
              <a:t>GIF</a:t>
            </a:r>
            <a:r>
              <a:rPr lang="en-GB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mc:AlternateContent>
    <mc:Choice Requires="p14">
      <p:transition>
        <p14:gallery dir="l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/>
          <p:nvPr/>
        </p:nvSpPr>
        <p:spPr>
          <a:xfrm>
            <a:off x="259548" y="962132"/>
            <a:ext cx="2335200" cy="1269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68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425" lIns="65425" spcFirstLastPara="1" rIns="65425" wrap="square" tIns="65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2"/>
          </a:p>
        </p:txBody>
      </p:sp>
      <p:sp>
        <p:nvSpPr>
          <p:cNvPr id="80" name="Google Shape;80;p16"/>
          <p:cNvSpPr/>
          <p:nvPr/>
        </p:nvSpPr>
        <p:spPr>
          <a:xfrm>
            <a:off x="3366333" y="962132"/>
            <a:ext cx="2335200" cy="1269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68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425" lIns="65425" spcFirstLastPara="1" rIns="65425" wrap="square" tIns="65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2"/>
          </a:p>
        </p:txBody>
      </p:sp>
      <p:sp>
        <p:nvSpPr>
          <p:cNvPr id="81" name="Google Shape;81;p16"/>
          <p:cNvSpPr txBox="1"/>
          <p:nvPr>
            <p:ph idx="1" type="subTitle"/>
          </p:nvPr>
        </p:nvSpPr>
        <p:spPr>
          <a:xfrm>
            <a:off x="984575" y="1313105"/>
            <a:ext cx="885000" cy="567300"/>
          </a:xfrm>
          <a:prstGeom prst="rect">
            <a:avLst/>
          </a:prstGeom>
        </p:spPr>
        <p:txBody>
          <a:bodyPr anchorCtr="0" anchor="t" bIns="65425" lIns="65425" spcFirstLastPara="1" rIns="65425" wrap="square" tIns="65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78">
                <a:latin typeface="Familjen Grotesk"/>
                <a:ea typeface="Familjen Grotesk"/>
                <a:cs typeface="Familjen Grotesk"/>
                <a:sym typeface="Familjen Grotesk"/>
              </a:rPr>
              <a:t>GIF</a:t>
            </a:r>
            <a:r>
              <a:rPr lang="en-GB" sz="2004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2004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82" name="Google Shape;82;p16"/>
          <p:cNvSpPr txBox="1"/>
          <p:nvPr>
            <p:ph idx="1" type="subTitle"/>
          </p:nvPr>
        </p:nvSpPr>
        <p:spPr>
          <a:xfrm>
            <a:off x="4091360" y="1313105"/>
            <a:ext cx="885000" cy="567300"/>
          </a:xfrm>
          <a:prstGeom prst="rect">
            <a:avLst/>
          </a:prstGeom>
        </p:spPr>
        <p:txBody>
          <a:bodyPr anchorCtr="0" anchor="t" bIns="65425" lIns="65425" spcFirstLastPara="1" rIns="65425" wrap="square" tIns="65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78">
                <a:latin typeface="Familjen Grotesk"/>
                <a:ea typeface="Familjen Grotesk"/>
                <a:cs typeface="Familjen Grotesk"/>
                <a:sym typeface="Familjen Grotesk"/>
              </a:rPr>
              <a:t>GIF</a:t>
            </a:r>
            <a:r>
              <a:rPr lang="en-GB" sz="2004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2004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83" name="Google Shape;83;p16"/>
          <p:cNvSpPr txBox="1"/>
          <p:nvPr>
            <p:ph type="ctrTitle"/>
          </p:nvPr>
        </p:nvSpPr>
        <p:spPr>
          <a:xfrm>
            <a:off x="-140575" y="2606176"/>
            <a:ext cx="3135300" cy="52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en-GB" sz="1863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Minor Mechanic 1</a:t>
            </a:r>
            <a:endParaRPr sz="1863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6473129" y="962124"/>
            <a:ext cx="2335200" cy="1269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68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5425" lIns="65425" spcFirstLastPara="1" rIns="65425" wrap="square" tIns="65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2"/>
          </a:p>
        </p:txBody>
      </p:sp>
      <p:sp>
        <p:nvSpPr>
          <p:cNvPr id="85" name="Google Shape;85;p16"/>
          <p:cNvSpPr txBox="1"/>
          <p:nvPr>
            <p:ph idx="1" type="subTitle"/>
          </p:nvPr>
        </p:nvSpPr>
        <p:spPr>
          <a:xfrm>
            <a:off x="7198155" y="1313098"/>
            <a:ext cx="885000" cy="567300"/>
          </a:xfrm>
          <a:prstGeom prst="rect">
            <a:avLst/>
          </a:prstGeom>
        </p:spPr>
        <p:txBody>
          <a:bodyPr anchorCtr="0" anchor="t" bIns="65425" lIns="65425" spcFirstLastPara="1" rIns="65425" wrap="square" tIns="65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78">
                <a:latin typeface="Familjen Grotesk"/>
                <a:ea typeface="Familjen Grotesk"/>
                <a:cs typeface="Familjen Grotesk"/>
                <a:sym typeface="Familjen Grotesk"/>
              </a:rPr>
              <a:t>GIF</a:t>
            </a:r>
            <a:r>
              <a:rPr lang="en-GB" sz="2004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2004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 flipH="1" rot="10800000">
            <a:off x="5827250" y="-20400"/>
            <a:ext cx="479700" cy="5169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7" name="Google Shape;87;p16"/>
          <p:cNvCxnSpPr/>
          <p:nvPr/>
        </p:nvCxnSpPr>
        <p:spPr>
          <a:xfrm flipH="1" rot="10800000">
            <a:off x="2688400" y="5100"/>
            <a:ext cx="475200" cy="5143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16"/>
          <p:cNvSpPr txBox="1"/>
          <p:nvPr>
            <p:ph type="ctrTitle"/>
          </p:nvPr>
        </p:nvSpPr>
        <p:spPr>
          <a:xfrm>
            <a:off x="2966200" y="2606176"/>
            <a:ext cx="3135300" cy="52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en-GB" sz="1863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Minor Mechanic 2</a:t>
            </a:r>
            <a:endParaRPr sz="1863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89" name="Google Shape;89;p16"/>
          <p:cNvSpPr txBox="1"/>
          <p:nvPr>
            <p:ph type="ctrTitle"/>
          </p:nvPr>
        </p:nvSpPr>
        <p:spPr>
          <a:xfrm>
            <a:off x="6073075" y="2606176"/>
            <a:ext cx="3135300" cy="52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en-GB" sz="1863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Minor Mechanic 3</a:t>
            </a:r>
            <a:endParaRPr sz="1863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/>
          <p:nvPr/>
        </p:nvSpPr>
        <p:spPr>
          <a:xfrm>
            <a:off x="537750" y="2018807"/>
            <a:ext cx="1910100" cy="1038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5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9"/>
          </a:p>
        </p:txBody>
      </p:sp>
      <p:sp>
        <p:nvSpPr>
          <p:cNvPr id="95" name="Google Shape;95;p17"/>
          <p:cNvSpPr/>
          <p:nvPr/>
        </p:nvSpPr>
        <p:spPr>
          <a:xfrm>
            <a:off x="6726601" y="2018807"/>
            <a:ext cx="1910100" cy="1038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5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9"/>
          </a:p>
        </p:txBody>
      </p:sp>
      <p:sp>
        <p:nvSpPr>
          <p:cNvPr id="96" name="Google Shape;96;p17"/>
          <p:cNvSpPr/>
          <p:nvPr/>
        </p:nvSpPr>
        <p:spPr>
          <a:xfrm>
            <a:off x="3632175" y="3643482"/>
            <a:ext cx="1910100" cy="1038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5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9"/>
          </a:p>
        </p:txBody>
      </p:sp>
      <p:sp>
        <p:nvSpPr>
          <p:cNvPr id="97" name="Google Shape;97;p17"/>
          <p:cNvSpPr txBox="1"/>
          <p:nvPr>
            <p:ph type="ctrTitle"/>
          </p:nvPr>
        </p:nvSpPr>
        <p:spPr>
          <a:xfrm>
            <a:off x="2402475" y="1634878"/>
            <a:ext cx="4369500" cy="10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47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Game Loop</a:t>
            </a:r>
            <a:endParaRPr sz="47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cxnSp>
        <p:nvCxnSpPr>
          <p:cNvPr id="98" name="Google Shape;98;p17"/>
          <p:cNvCxnSpPr>
            <a:stCxn id="95" idx="2"/>
            <a:endCxn id="96" idx="3"/>
          </p:cNvCxnSpPr>
          <p:nvPr/>
        </p:nvCxnSpPr>
        <p:spPr>
          <a:xfrm rot="5400000">
            <a:off x="6059101" y="2540057"/>
            <a:ext cx="1105800" cy="2139300"/>
          </a:xfrm>
          <a:prstGeom prst="curvedConnector2">
            <a:avLst/>
          </a:prstGeom>
          <a:noFill/>
          <a:ln cap="flat" cmpd="sng" w="28575">
            <a:solidFill>
              <a:srgbClr val="ECEFF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99" name="Google Shape;99;p17"/>
          <p:cNvCxnSpPr>
            <a:stCxn id="96" idx="1"/>
            <a:endCxn id="94" idx="2"/>
          </p:cNvCxnSpPr>
          <p:nvPr/>
        </p:nvCxnSpPr>
        <p:spPr>
          <a:xfrm rot="10800000">
            <a:off x="1492875" y="3056682"/>
            <a:ext cx="2139300" cy="1105800"/>
          </a:xfrm>
          <a:prstGeom prst="curvedConnector2">
            <a:avLst/>
          </a:prstGeom>
          <a:noFill/>
          <a:ln cap="flat" cmpd="sng" w="28575">
            <a:solidFill>
              <a:srgbClr val="ECEFF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00" name="Google Shape;100;p17"/>
          <p:cNvCxnSpPr>
            <a:stCxn id="94" idx="0"/>
            <a:endCxn id="101" idx="1"/>
          </p:cNvCxnSpPr>
          <p:nvPr/>
        </p:nvCxnSpPr>
        <p:spPr>
          <a:xfrm rot="-5400000">
            <a:off x="1953450" y="355157"/>
            <a:ext cx="1203000" cy="2124300"/>
          </a:xfrm>
          <a:prstGeom prst="curvedConnector2">
            <a:avLst/>
          </a:prstGeom>
          <a:noFill/>
          <a:ln cap="flat" cmpd="sng" w="28575">
            <a:solidFill>
              <a:srgbClr val="ECEFF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02" name="Google Shape;102;p17"/>
          <p:cNvCxnSpPr>
            <a:stCxn id="101" idx="3"/>
            <a:endCxn id="95" idx="0"/>
          </p:cNvCxnSpPr>
          <p:nvPr/>
        </p:nvCxnSpPr>
        <p:spPr>
          <a:xfrm>
            <a:off x="5527051" y="815807"/>
            <a:ext cx="2154600" cy="1203000"/>
          </a:xfrm>
          <a:prstGeom prst="curvedConnector2">
            <a:avLst/>
          </a:prstGeom>
          <a:noFill/>
          <a:ln cap="flat" cmpd="sng" w="28575">
            <a:solidFill>
              <a:srgbClr val="ECEFF6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03" name="Google Shape;103;p17"/>
          <p:cNvSpPr txBox="1"/>
          <p:nvPr>
            <p:ph type="ctrTitle"/>
          </p:nvPr>
        </p:nvSpPr>
        <p:spPr>
          <a:xfrm>
            <a:off x="2609325" y="2502753"/>
            <a:ext cx="3955800" cy="52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en-GB" sz="1663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Why the game is fun and unique?</a:t>
            </a:r>
            <a:endParaRPr sz="1663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3616950" y="313232"/>
            <a:ext cx="1910100" cy="10380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 cap="flat" cmpd="sng" w="5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9"/>
          </a:p>
        </p:txBody>
      </p:sp>
      <p:sp>
        <p:nvSpPr>
          <p:cNvPr id="105" name="Google Shape;105;p17"/>
          <p:cNvSpPr txBox="1"/>
          <p:nvPr>
            <p:ph idx="1" type="subTitle"/>
          </p:nvPr>
        </p:nvSpPr>
        <p:spPr>
          <a:xfrm>
            <a:off x="4024875" y="600328"/>
            <a:ext cx="1124700" cy="463800"/>
          </a:xfrm>
          <a:prstGeom prst="rect">
            <a:avLst/>
          </a:prstGeom>
        </p:spPr>
        <p:txBody>
          <a:bodyPr anchorCtr="0" anchor="t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-GB" sz="1610">
                <a:latin typeface="Familjen Grotesk"/>
                <a:ea typeface="Familjen Grotesk"/>
                <a:cs typeface="Familjen Grotesk"/>
                <a:sym typeface="Familjen Grotesk"/>
              </a:rPr>
              <a:t>Mechanic</a:t>
            </a:r>
            <a:r>
              <a:rPr lang="en-GB" sz="901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901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06" name="Google Shape;106;p17"/>
          <p:cNvSpPr txBox="1"/>
          <p:nvPr>
            <p:ph idx="1" type="subTitle"/>
          </p:nvPr>
        </p:nvSpPr>
        <p:spPr>
          <a:xfrm>
            <a:off x="7216475" y="2305903"/>
            <a:ext cx="1124700" cy="463800"/>
          </a:xfrm>
          <a:prstGeom prst="rect">
            <a:avLst/>
          </a:prstGeom>
        </p:spPr>
        <p:txBody>
          <a:bodyPr anchorCtr="0" anchor="t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-GB" sz="1610">
                <a:latin typeface="Familjen Grotesk"/>
                <a:ea typeface="Familjen Grotesk"/>
                <a:cs typeface="Familjen Grotesk"/>
                <a:sym typeface="Familjen Grotesk"/>
              </a:rPr>
              <a:t>Mechanic</a:t>
            </a:r>
            <a:r>
              <a:rPr lang="en-GB" sz="901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901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07" name="Google Shape;107;p17"/>
          <p:cNvSpPr txBox="1"/>
          <p:nvPr>
            <p:ph idx="1" type="subTitle"/>
          </p:nvPr>
        </p:nvSpPr>
        <p:spPr>
          <a:xfrm>
            <a:off x="4009650" y="3930578"/>
            <a:ext cx="1124700" cy="463800"/>
          </a:xfrm>
          <a:prstGeom prst="rect">
            <a:avLst/>
          </a:prstGeom>
        </p:spPr>
        <p:txBody>
          <a:bodyPr anchorCtr="0" anchor="t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-GB" sz="1610">
                <a:latin typeface="Familjen Grotesk"/>
                <a:ea typeface="Familjen Grotesk"/>
                <a:cs typeface="Familjen Grotesk"/>
                <a:sym typeface="Familjen Grotesk"/>
              </a:rPr>
              <a:t>Mechanic</a:t>
            </a:r>
            <a:r>
              <a:rPr lang="en-GB" sz="901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901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08" name="Google Shape;108;p17"/>
          <p:cNvSpPr txBox="1"/>
          <p:nvPr>
            <p:ph idx="1" type="subTitle"/>
          </p:nvPr>
        </p:nvSpPr>
        <p:spPr>
          <a:xfrm>
            <a:off x="930450" y="2305841"/>
            <a:ext cx="1124700" cy="463800"/>
          </a:xfrm>
          <a:prstGeom prst="rect">
            <a:avLst/>
          </a:prstGeom>
        </p:spPr>
        <p:txBody>
          <a:bodyPr anchorCtr="0" anchor="t" bIns="53525" lIns="53525" spcFirstLastPara="1" rIns="53525" wrap="square" tIns="53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-GB" sz="1610">
                <a:latin typeface="Familjen Grotesk"/>
                <a:ea typeface="Familjen Grotesk"/>
                <a:cs typeface="Familjen Grotesk"/>
                <a:sym typeface="Familjen Grotesk"/>
              </a:rPr>
              <a:t>Mechanic</a:t>
            </a:r>
            <a:r>
              <a:rPr lang="en-GB" sz="901">
                <a:latin typeface="Familjen Grotesk"/>
                <a:ea typeface="Familjen Grotesk"/>
                <a:cs typeface="Familjen Grotesk"/>
                <a:sym typeface="Familjen Grotesk"/>
              </a:rPr>
              <a:t> </a:t>
            </a:r>
            <a:endParaRPr sz="901"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ctrTitle"/>
          </p:nvPr>
        </p:nvSpPr>
        <p:spPr>
          <a:xfrm>
            <a:off x="-170550" y="827136"/>
            <a:ext cx="9485100" cy="1269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45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Game Content + Playtime</a:t>
            </a:r>
            <a:endParaRPr sz="45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14" name="Google Shape;114;p18"/>
          <p:cNvSpPr txBox="1"/>
          <p:nvPr>
            <p:ph idx="1" type="subTitle"/>
          </p:nvPr>
        </p:nvSpPr>
        <p:spPr>
          <a:xfrm>
            <a:off x="311700" y="2295036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How much content the game offers for its budget, usually measured in hours of playtime and replayability</a:t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 txBox="1"/>
          <p:nvPr>
            <p:ph type="ctrTitle"/>
          </p:nvPr>
        </p:nvSpPr>
        <p:spPr>
          <a:xfrm>
            <a:off x="311700" y="1122827"/>
            <a:ext cx="8520600" cy="118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1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Look and Feel</a:t>
            </a:r>
            <a:endParaRPr sz="51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20" name="Google Shape;120;p19"/>
          <p:cNvSpPr txBox="1"/>
          <p:nvPr>
            <p:ph idx="1" type="subTitle"/>
          </p:nvPr>
        </p:nvSpPr>
        <p:spPr>
          <a:xfrm>
            <a:off x="692875" y="2431300"/>
            <a:ext cx="7803300" cy="93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196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Drop your Art Direction inspirations here.</a:t>
            </a:r>
            <a:endParaRPr sz="196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196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Even better, if you have some shots from your Beauty Corner</a:t>
            </a:r>
            <a:endParaRPr sz="196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ctrTitle"/>
          </p:nvPr>
        </p:nvSpPr>
        <p:spPr>
          <a:xfrm>
            <a:off x="311700" y="667955"/>
            <a:ext cx="8520600" cy="103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8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Market and Comparable titles</a:t>
            </a:r>
            <a:endParaRPr sz="38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26" name="Google Shape;126;p20"/>
          <p:cNvSpPr txBox="1"/>
          <p:nvPr>
            <p:ph idx="1" type="subTitle"/>
          </p:nvPr>
        </p:nvSpPr>
        <p:spPr>
          <a:xfrm>
            <a:off x="311700" y="1983143"/>
            <a:ext cx="8520600" cy="198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Pick 3 to 5 realistic comparables, similar scope, genre and price. For each, add what you know: approximate sales, price point, and estimated wishlist or review numbers.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t/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Avoid huge titles and outliers, they tell a publisher nothing about your real opportunity.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mc:AlternateContent>
    <mc:Choice Requires="p14">
      <p:transition>
        <p14:prism dir="l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1700" y="667955"/>
            <a:ext cx="8520600" cy="103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8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Timing &amp; Roadmap </a:t>
            </a:r>
            <a:endParaRPr sz="38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32" name="Google Shape;132;p21"/>
          <p:cNvSpPr txBox="1"/>
          <p:nvPr>
            <p:ph idx="1" type="subTitle"/>
          </p:nvPr>
        </p:nvSpPr>
        <p:spPr>
          <a:xfrm>
            <a:off x="547150" y="1983150"/>
            <a:ext cx="7918500" cy="198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Where the project is now, your target launch window, and the key milestones between here and ship. </a:t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GB" sz="238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Be honest about what is done and what is still ahead. </a:t>
            </a:r>
            <a:endParaRPr sz="238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  <p:transition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ctrTitle"/>
          </p:nvPr>
        </p:nvSpPr>
        <p:spPr>
          <a:xfrm>
            <a:off x="311700" y="1008253"/>
            <a:ext cx="8520600" cy="102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3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What you have now</a:t>
            </a:r>
            <a:endParaRPr sz="43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38" name="Google Shape;138;p22"/>
          <p:cNvSpPr txBox="1"/>
          <p:nvPr>
            <p:ph idx="1" type="subTitle"/>
          </p:nvPr>
        </p:nvSpPr>
        <p:spPr>
          <a:xfrm>
            <a:off x="735400" y="2287250"/>
            <a:ext cx="7608900" cy="13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Some notes on the game pillars you are working on, or on the prototype you sent together with the deck. </a:t>
            </a:r>
            <a:endParaRPr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ctrTitle"/>
          </p:nvPr>
        </p:nvSpPr>
        <p:spPr>
          <a:xfrm>
            <a:off x="814625" y="688650"/>
            <a:ext cx="7308300" cy="17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6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Development Budget Request + Time for Development Needed</a:t>
            </a:r>
            <a:endParaRPr sz="36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44" name="Google Shape;144;p23"/>
          <p:cNvSpPr txBox="1"/>
          <p:nvPr>
            <p:ph idx="1" type="subTitle"/>
          </p:nvPr>
        </p:nvSpPr>
        <p:spPr>
          <a:xfrm>
            <a:off x="311700" y="2720093"/>
            <a:ext cx="8520600" cy="12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"We would need X budget over Y months."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t/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Be clear on monthly burn and total, and leave a 15 to 20% buffer for the unexpected.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>
            <p:ph type="ctrTitle"/>
          </p:nvPr>
        </p:nvSpPr>
        <p:spPr>
          <a:xfrm>
            <a:off x="1409450" y="736875"/>
            <a:ext cx="6218400" cy="148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407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Services and Publisher’s Request</a:t>
            </a:r>
            <a:endParaRPr sz="407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50" name="Google Shape;150;p24"/>
          <p:cNvSpPr txBox="1"/>
          <p:nvPr>
            <p:ph idx="1" type="subTitle"/>
          </p:nvPr>
        </p:nvSpPr>
        <p:spPr>
          <a:xfrm>
            <a:off x="711100" y="2431950"/>
            <a:ext cx="7712100" cy="170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196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Beyond development money, what you want from a publisher: platforms, QA, marketing, commercial opportunities, influencer connections. </a:t>
            </a:r>
            <a:endParaRPr sz="196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96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196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This plus the dev budget is the real all-in investment a publisher will weigh. </a:t>
            </a:r>
            <a:endParaRPr sz="196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/>
          <p:nvPr>
            <p:ph type="ctrTitle"/>
          </p:nvPr>
        </p:nvSpPr>
        <p:spPr>
          <a:xfrm>
            <a:off x="822900" y="724884"/>
            <a:ext cx="7498200" cy="130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5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Team + Experience</a:t>
            </a:r>
            <a:endParaRPr sz="45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  <p:sp>
        <p:nvSpPr>
          <p:cNvPr id="156" name="Google Shape;156;p25"/>
          <p:cNvSpPr txBox="1"/>
          <p:nvPr>
            <p:ph idx="1" type="subTitle"/>
          </p:nvPr>
        </p:nvSpPr>
        <p:spPr>
          <a:xfrm>
            <a:off x="1076850" y="2219397"/>
            <a:ext cx="6681300" cy="17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Who is on the team and what they have shipped.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t/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n-GB" sz="2170">
                <a:solidFill>
                  <a:srgbClr val="ECEFF6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If you are solo right now, it helps to name 1 or 2 freelancers you have in mind for the key roles. </a:t>
            </a:r>
            <a:endParaRPr sz="2170">
              <a:solidFill>
                <a:srgbClr val="ECEFF6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 txBox="1"/>
          <p:nvPr>
            <p:ph type="ctrTitle"/>
          </p:nvPr>
        </p:nvSpPr>
        <p:spPr>
          <a:xfrm>
            <a:off x="311700" y="1576802"/>
            <a:ext cx="8520600" cy="118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500">
                <a:solidFill>
                  <a:srgbClr val="E5B415"/>
                </a:solidFill>
                <a:latin typeface="Familjen Grotesk"/>
                <a:ea typeface="Familjen Grotesk"/>
                <a:cs typeface="Familjen Grotesk"/>
                <a:sym typeface="Familjen Grotesk"/>
              </a:rPr>
              <a:t>Thank you and Contacts</a:t>
            </a:r>
            <a:endParaRPr sz="4500">
              <a:solidFill>
                <a:srgbClr val="E5B415"/>
              </a:solidFill>
              <a:latin typeface="Familjen Grotesk"/>
              <a:ea typeface="Familjen Grotesk"/>
              <a:cs typeface="Familjen Grotesk"/>
              <a:sym typeface="Familjen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