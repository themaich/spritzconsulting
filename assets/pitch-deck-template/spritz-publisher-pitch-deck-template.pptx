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fntdata" ContentType="application/x-fontdata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6858000" cy="9144000"/>
  <p:embeddedFontLst>
    <p:embeddedFont>
      <p:font typeface="Familjen Grotesk"/>
      <p:regular r:id="rId21"/>
      <p:bold r:id="rId22"/>
      <p:italic r:id="rId23"/>
      <p:boldItalic r:id="rId24"/>
    </p:embeddedFont>
  </p:embeddedFontLst>
  <p:defaultTextStyle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xmlns:a="http://schemas.openxmlformats.org/drawingml/2006/main" xmlns:p="http://schemas.openxmlformats.org/presentationml/2006/main" xmlns:p15="http://schemas.microsoft.com/office/powerpoint/2012/main"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heme" Target="theme/theme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 spcFirstLastPara="1">
            <a:noAutofit/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7DDC6D5D-A00E-4AA9-84F2-364CBECE0EEA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EDCD0F9E-EF7E-4C26-8662-25A73F2263DD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7C18080-B33E-4073-8615-72D8F5AE8F78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85CB9569-04AF-4288-8880-64CE52ABE7A3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BF533E07-937E-4FED-8300-891295843456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7A28B55B-FA15-48BA-860D-0231187503D9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E0EBC0-ADA9-4FA7-889C-9287646BC79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 spcFirstLastPara="1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7DA25AB8-FB3A-479C-8780-0B7E5F586C0F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5AEFC29A-6C4F-4141-86E3-1A3E2D58E3A2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rPr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DE19C649-D3E0-46CB-87C1-67136E4226A6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 spcFirstLastPara="1">
            <a:normAutofit/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20EBE78A-EB3E-401E-81B5-D7F53201DAF3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rotWithShape="1">
          <a:blip r:embed="rId13">
            <a:alphaModFix amt="10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 spcFirstLastPara="1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 spcFirstLastPara="1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 spcFirstLastPara="1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473D6AB1-0FDA-49F1-8390-8828CE9E6676}" type="slidenum">
              <a:rPr lang="en-GB"/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420256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Game Title</a:t>
            </a:r>
            <a:endParaRPr sz="63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3157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A Tagline that sets the tone for the game</a:t>
            </a:r>
            <a:endParaRPr sz="250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200">
        <p:fade thruBlk="1"/>
      </p:transition>
    </mc:Choice>
    <mc:Fallback>
      <p:transition spd="fast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86262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Elevator Pitch</a:t>
            </a:r>
            <a:endParaRPr sz="63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248163"/>
            <a:ext cx="8520600" cy="18582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Game X Meets Game Y, with a pinch of Game Z</a:t>
            </a:r>
            <a:b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</a:br>
            <a:b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</a:b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What is the Core feeling this game wants to generate?</a:t>
            </a: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What type of gamer will resonate with this game?</a:t>
            </a: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8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:push dir="r"/>
      </p:transition>
    </mc:Choice>
    <mc:Fallback>
      <p:transition spd="fast">
        <p:push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567600" y="141900"/>
            <a:ext cx="5264700" cy="1099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Mechanic 1</a:t>
            </a:r>
            <a:endParaRPr sz="56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4165350" y="1106100"/>
            <a:ext cx="40692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48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Explanation of Mechanic 1</a:t>
            </a:r>
            <a:r>
              <a:rPr lang="en-GB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279175" y="2971453"/>
            <a:ext cx="5264700" cy="1099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Mechanic 2</a:t>
            </a:r>
            <a:endParaRPr sz="56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876925" y="3935653"/>
            <a:ext cx="40692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48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Explanation of Mechanic 2</a:t>
            </a:r>
            <a:r>
              <a:rPr lang="en-GB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cxnSp>
        <p:nvCxnSpPr>
          <p:cNvPr id="70" name="Google Shape;70;p15"/>
          <p:cNvCxnSpPr/>
          <p:nvPr/>
        </p:nvCxnSpPr>
        <p:spPr>
          <a:xfrm rot="10800000" flipH="1">
            <a:off x="0" y="2158425"/>
            <a:ext cx="9149100" cy="55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/>
          <p:nvPr/>
        </p:nvSpPr>
        <p:spPr>
          <a:xfrm>
            <a:off x="451000" y="329375"/>
            <a:ext cx="3263400" cy="17736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91425" tIns="91425" rIns="91425" bIns="914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15"/>
          <p:cNvSpPr/>
          <p:nvPr/>
        </p:nvSpPr>
        <p:spPr>
          <a:xfrm>
            <a:off x="5356700" y="2824503"/>
            <a:ext cx="3263400" cy="17736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91425" tIns="91425" rIns="91425" bIns="914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1464250" y="819875"/>
            <a:ext cx="12369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latin typeface="Familjen Grotesk"/>
                <a:ea typeface="Familjen Grotesk"/>
                <a:cs typeface="Familjen Grotesk"/>
                <a:sym typeface="Familjen Grotesk"/>
              </a:rPr>
              <a:t>GIF</a:t>
            </a:r>
            <a:r>
              <a:rPr lang="en-GB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6369950" y="3495900"/>
            <a:ext cx="12369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latin typeface="Familjen Grotesk"/>
                <a:ea typeface="Familjen Grotesk"/>
                <a:cs typeface="Familjen Grotesk"/>
                <a:sym typeface="Familjen Grotesk"/>
              </a:rPr>
              <a:t>GIF</a:t>
            </a:r>
            <a:r>
              <a:rPr lang="en-GB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14:gallery dir="l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259548" y="962132"/>
            <a:ext cx="2335200" cy="1269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68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65425" tIns="65425" rIns="65425" bIns="654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2"/>
          </a:p>
        </p:txBody>
      </p:sp>
      <p:sp>
        <p:nvSpPr>
          <p:cNvPr id="80" name="Google Shape;80;p16"/>
          <p:cNvSpPr/>
          <p:nvPr/>
        </p:nvSpPr>
        <p:spPr>
          <a:xfrm>
            <a:off x="3366333" y="962132"/>
            <a:ext cx="2335200" cy="1269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68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65425" tIns="65425" rIns="65425" bIns="654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2"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984575" y="1313105"/>
            <a:ext cx="885000" cy="567300"/>
          </a:xfrm>
          <a:prstGeom prst="rect">
            <a:avLst/>
          </a:prstGeom>
        </p:spPr>
        <p:txBody>
          <a:bodyPr wrap="square" lIns="65425" tIns="65425" rIns="65425" bIns="65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78">
                <a:latin typeface="Familjen Grotesk"/>
                <a:ea typeface="Familjen Grotesk"/>
                <a:cs typeface="Familjen Grotesk"/>
                <a:sym typeface="Familjen Grotesk"/>
              </a:rPr>
              <a:t>GIF</a:t>
            </a:r>
            <a:r>
              <a:rPr lang="en-GB" sz="2004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2004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4091360" y="1313105"/>
            <a:ext cx="885000" cy="567300"/>
          </a:xfrm>
          <a:prstGeom prst="rect">
            <a:avLst/>
          </a:prstGeom>
        </p:spPr>
        <p:txBody>
          <a:bodyPr wrap="square" lIns="65425" tIns="65425" rIns="65425" bIns="65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78">
                <a:latin typeface="Familjen Grotesk"/>
                <a:ea typeface="Familjen Grotesk"/>
                <a:cs typeface="Familjen Grotesk"/>
                <a:sym typeface="Familjen Grotesk"/>
              </a:rPr>
              <a:t>GIF</a:t>
            </a:r>
            <a:r>
              <a:rPr lang="en-GB" sz="2004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2004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ctrTitle"/>
          </p:nvPr>
        </p:nvSpPr>
        <p:spPr>
          <a:xfrm>
            <a:off x="-140575" y="2606176"/>
            <a:ext cx="3135300" cy="525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3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Minor Mechanic 1</a:t>
            </a:r>
            <a:endParaRPr sz="1863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473129" y="962124"/>
            <a:ext cx="2335200" cy="1269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68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65425" tIns="65425" rIns="65425" bIns="654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2"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1"/>
          </p:nvPr>
        </p:nvSpPr>
        <p:spPr>
          <a:xfrm>
            <a:off x="7198155" y="1313098"/>
            <a:ext cx="885000" cy="567300"/>
          </a:xfrm>
          <a:prstGeom prst="rect">
            <a:avLst/>
          </a:prstGeom>
        </p:spPr>
        <p:txBody>
          <a:bodyPr wrap="square" lIns="65425" tIns="65425" rIns="65425" bIns="65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78">
                <a:latin typeface="Familjen Grotesk"/>
                <a:ea typeface="Familjen Grotesk"/>
                <a:cs typeface="Familjen Grotesk"/>
                <a:sym typeface="Familjen Grotesk"/>
              </a:rPr>
              <a:t>GIF</a:t>
            </a:r>
            <a:r>
              <a:rPr lang="en-GB" sz="2004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2004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 rot="10800000" flipH="1">
            <a:off x="5827250" y="-20400"/>
            <a:ext cx="479700" cy="516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6"/>
          <p:cNvCxnSpPr/>
          <p:nvPr/>
        </p:nvCxnSpPr>
        <p:spPr>
          <a:xfrm rot="10800000" flipH="1">
            <a:off x="2688400" y="5100"/>
            <a:ext cx="475200" cy="514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6"/>
          <p:cNvSpPr txBox="1">
            <a:spLocks noGrp="1"/>
          </p:cNvSpPr>
          <p:nvPr>
            <p:ph type="ctrTitle"/>
          </p:nvPr>
        </p:nvSpPr>
        <p:spPr>
          <a:xfrm>
            <a:off x="2966200" y="2606176"/>
            <a:ext cx="3135300" cy="525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3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Minor Mechanic 2</a:t>
            </a:r>
            <a:endParaRPr sz="1863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ctrTitle"/>
          </p:nvPr>
        </p:nvSpPr>
        <p:spPr>
          <a:xfrm>
            <a:off x="6073075" y="2606176"/>
            <a:ext cx="3135300" cy="525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3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Minor Mechanic 3</a:t>
            </a:r>
            <a:endParaRPr sz="1863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537750" y="2018807"/>
            <a:ext cx="1910100" cy="1038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5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53525" tIns="53525" rIns="53525" bIns="535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19"/>
          </a:p>
        </p:txBody>
      </p:sp>
      <p:sp>
        <p:nvSpPr>
          <p:cNvPr id="95" name="Google Shape;95;p17"/>
          <p:cNvSpPr/>
          <p:nvPr/>
        </p:nvSpPr>
        <p:spPr>
          <a:xfrm>
            <a:off x="6726601" y="2018807"/>
            <a:ext cx="1910100" cy="1038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5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53525" tIns="53525" rIns="53525" bIns="535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19"/>
          </a:p>
        </p:txBody>
      </p:sp>
      <p:sp>
        <p:nvSpPr>
          <p:cNvPr id="96" name="Google Shape;96;p17"/>
          <p:cNvSpPr/>
          <p:nvPr/>
        </p:nvSpPr>
        <p:spPr>
          <a:xfrm>
            <a:off x="3632175" y="3643482"/>
            <a:ext cx="1910100" cy="1038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5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53525" tIns="53525" rIns="53525" bIns="535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19"/>
          </a:p>
        </p:txBody>
      </p:sp>
      <p:sp>
        <p:nvSpPr>
          <p:cNvPr id="97" name="Google Shape;97;p17"/>
          <p:cNvSpPr txBox="1">
            <a:spLocks noGrp="1"/>
          </p:cNvSpPr>
          <p:nvPr>
            <p:ph type="ctrTitle"/>
          </p:nvPr>
        </p:nvSpPr>
        <p:spPr>
          <a:xfrm>
            <a:off x="2402475" y="1634878"/>
            <a:ext cx="4369500" cy="1099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Game Loop</a:t>
            </a:r>
            <a:endParaRPr sz="47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03" name="Google Shape;103;p17"/>
          <p:cNvSpPr txBox="1">
            <a:spLocks noGrp="1"/>
          </p:cNvSpPr>
          <p:nvPr>
            <p:ph type="ctrTitle"/>
          </p:nvPr>
        </p:nvSpPr>
        <p:spPr>
          <a:xfrm>
            <a:off x="2609325" y="2502753"/>
            <a:ext cx="3955800" cy="525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63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Why the game is fun and unique?</a:t>
            </a:r>
            <a:endParaRPr sz="1663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616950" y="304800"/>
            <a:ext cx="1910100" cy="1038000"/>
          </a:xfrm>
          <a:prstGeom prst="roundRect">
            <a:avLst>
              <a:gd name="adj" fmla="val 16667"/>
            </a:avLst>
          </a:prstGeom>
          <a:solidFill>
            <a:srgbClr val="B7B7B7"/>
          </a:solidFill>
          <a:ln w="5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53525" tIns="53525" rIns="53525" bIns="53525" anchor="ctr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19"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4024875" y="591900"/>
            <a:ext cx="1124700" cy="463800"/>
          </a:xfrm>
          <a:prstGeom prst="rect">
            <a:avLst/>
          </a:prstGeom>
        </p:spPr>
        <p:txBody>
          <a:bodyPr wrap="square" lIns="53525" tIns="53525" rIns="53525" bIns="535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0">
                <a:latin typeface="Familjen Grotesk"/>
                <a:ea typeface="Familjen Grotesk"/>
                <a:cs typeface="Familjen Grotesk"/>
                <a:sym typeface="Familjen Grotesk"/>
              </a:rPr>
              <a:t>Mechanic</a:t>
            </a:r>
            <a:r>
              <a:rPr lang="en-GB" sz="901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901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7216475" y="2305903"/>
            <a:ext cx="1124700" cy="463800"/>
          </a:xfrm>
          <a:prstGeom prst="rect">
            <a:avLst/>
          </a:prstGeom>
        </p:spPr>
        <p:txBody>
          <a:bodyPr wrap="square" lIns="53525" tIns="53525" rIns="53525" bIns="535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0">
                <a:latin typeface="Familjen Grotesk"/>
                <a:ea typeface="Familjen Grotesk"/>
                <a:cs typeface="Familjen Grotesk"/>
                <a:sym typeface="Familjen Grotesk"/>
              </a:rPr>
              <a:t>Mechanic</a:t>
            </a:r>
            <a:r>
              <a:rPr lang="en-GB" sz="901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901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"/>
          </p:nvPr>
        </p:nvSpPr>
        <p:spPr>
          <a:xfrm>
            <a:off x="4009650" y="3930578"/>
            <a:ext cx="1124700" cy="463800"/>
          </a:xfrm>
          <a:prstGeom prst="rect">
            <a:avLst/>
          </a:prstGeom>
        </p:spPr>
        <p:txBody>
          <a:bodyPr wrap="square" lIns="53525" tIns="53525" rIns="53525" bIns="535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0">
                <a:latin typeface="Familjen Grotesk"/>
                <a:ea typeface="Familjen Grotesk"/>
                <a:cs typeface="Familjen Grotesk"/>
                <a:sym typeface="Familjen Grotesk"/>
              </a:rPr>
              <a:t>Mechanic</a:t>
            </a:r>
            <a:r>
              <a:rPr lang="en-GB" sz="901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901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30450" y="2305841"/>
            <a:ext cx="1124700" cy="463800"/>
          </a:xfrm>
          <a:prstGeom prst="rect">
            <a:avLst/>
          </a:prstGeom>
        </p:spPr>
        <p:txBody>
          <a:bodyPr wrap="square" lIns="53525" tIns="53525" rIns="53525" bIns="535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0">
                <a:latin typeface="Familjen Grotesk"/>
                <a:ea typeface="Familjen Grotesk"/>
                <a:cs typeface="Familjen Grotesk"/>
                <a:sym typeface="Familjen Grotesk"/>
              </a:rPr>
              <a:t>Mechanic</a:t>
            </a:r>
            <a:r>
              <a:rPr lang="en-GB" sz="901"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901"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94" name="Arrow 11"/>
          <p:cNvSpPr/>
          <p:nvPr/>
        </p:nvSpPr>
        <p:spPr>
          <a:xfrm rot="5375061">
            <a:off x="6150935" y="122516"/>
            <a:ext cx="1326903" cy="2311550"/>
          </a:xfrm>
          <a:prstGeom prst="bentArrow">
            <a:avLst/>
          </a:prstGeom>
          <a:solidFill>
            <a:srgbClr val="B7B7B7"/>
          </a:solidFill>
          <a:ln>
            <a:solidFill>
              <a:srgbClr val="E5B4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5" name="Arrow 12"/>
          <p:cNvSpPr/>
          <p:nvPr/>
        </p:nvSpPr>
        <p:spPr>
          <a:xfrm rot="10773951">
            <a:off x="5619433" y="3168091"/>
            <a:ext cx="2204175" cy="1379128"/>
          </a:xfrm>
          <a:prstGeom prst="bentArrow">
            <a:avLst/>
          </a:prstGeom>
          <a:solidFill>
            <a:srgbClr val="B7B7B7"/>
          </a:solidFill>
          <a:ln>
            <a:solidFill>
              <a:srgbClr val="E5B4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6" name="Arrow 13"/>
          <p:cNvSpPr/>
          <p:nvPr/>
        </p:nvSpPr>
        <p:spPr>
          <a:xfrm rot="16170802">
            <a:off x="1661219" y="2544171"/>
            <a:ext cx="1256501" cy="2424595"/>
          </a:xfrm>
          <a:prstGeom prst="bentArrow">
            <a:avLst/>
          </a:prstGeom>
          <a:solidFill>
            <a:srgbClr val="B7B7B7"/>
          </a:solidFill>
          <a:ln>
            <a:solidFill>
              <a:srgbClr val="E5B4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7" name="Arrow 14"/>
          <p:cNvSpPr/>
          <p:nvPr/>
        </p:nvSpPr>
        <p:spPr>
          <a:xfrm rot="29903">
            <a:off x="1187027" y="396702"/>
            <a:ext cx="2270036" cy="1460494"/>
          </a:xfrm>
          <a:prstGeom prst="bentArrow">
            <a:avLst/>
          </a:prstGeom>
          <a:solidFill>
            <a:srgbClr val="B7B7B7"/>
          </a:solidFill>
          <a:ln>
            <a:solidFill>
              <a:srgbClr val="E5B4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ctrTitle"/>
          </p:nvPr>
        </p:nvSpPr>
        <p:spPr>
          <a:xfrm>
            <a:off x="-170550" y="827136"/>
            <a:ext cx="9485100" cy="12693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Game Content + Playtime</a:t>
            </a:r>
            <a:endParaRPr sz="45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"/>
          </p:nvPr>
        </p:nvSpPr>
        <p:spPr>
          <a:xfrm>
            <a:off x="990600" y="2286000"/>
            <a:ext cx="7079700" cy="792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How much content the game offers for its budget, usually measured in hours of playtime and replayability</a:t>
            </a: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:fade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ctrTitle"/>
          </p:nvPr>
        </p:nvSpPr>
        <p:spPr>
          <a:xfrm>
            <a:off x="311700" y="1122827"/>
            <a:ext cx="8520600" cy="11871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Look and Feel</a:t>
            </a:r>
            <a:endParaRPr sz="51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1"/>
          </p:nvPr>
        </p:nvSpPr>
        <p:spPr>
          <a:xfrm>
            <a:off x="692875" y="2431300"/>
            <a:ext cx="7803300" cy="9330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6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Drop your Art Direction inspirations here.</a:t>
            </a:r>
            <a:endParaRPr sz="196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6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Even better, if you have some shots from your Beauty Corner</a:t>
            </a:r>
            <a:endParaRPr sz="196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ctrTitle"/>
          </p:nvPr>
        </p:nvSpPr>
        <p:spPr>
          <a:xfrm>
            <a:off x="311700" y="667955"/>
            <a:ext cx="8520600" cy="1036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Market and Comparable titles</a:t>
            </a:r>
            <a:endParaRPr sz="38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1"/>
          </p:nvPr>
        </p:nvSpPr>
        <p:spPr>
          <a:xfrm>
            <a:off x="762000" y="1983143"/>
            <a:ext cx="7543800" cy="1989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Pick 3 to 5 realistic comparables, similar scope, genre and price. For each, add what you know: approximate sales, price point, and estimated wishlist or review numbers. </a:t>
            </a: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Avoid huge titles and outliers, they tell a publisher nothing about your real opportunity. </a:t>
            </a: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14:prism dir="l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ctrTitle"/>
          </p:nvPr>
        </p:nvSpPr>
        <p:spPr>
          <a:xfrm>
            <a:off x="311700" y="667955"/>
            <a:ext cx="8520600" cy="1036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Timing &amp; Roadmap</a:t>
            </a:r>
            <a:r>
              <a:rPr lang="en-GB" sz="387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387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1"/>
          </p:nvPr>
        </p:nvSpPr>
        <p:spPr>
          <a:xfrm>
            <a:off x="547150" y="1983150"/>
            <a:ext cx="7918500" cy="19896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Where the project is now, your target launch window, and the key milestones between here and ship. </a:t>
            </a: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8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Be honest about what is done and what is still ahead. </a:t>
            </a:r>
            <a:endParaRPr sz="238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500">
        <p:push dir="r"/>
      </p:transition>
    </mc:Choice>
    <mc:Fallback>
      <p:transition spd="fast">
        <p:push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ctrTitle"/>
          </p:nvPr>
        </p:nvSpPr>
        <p:spPr>
          <a:xfrm>
            <a:off x="311700" y="1008253"/>
            <a:ext cx="8520600" cy="10245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What you have now</a:t>
            </a:r>
            <a:endParaRPr sz="43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1"/>
          </p:nvPr>
        </p:nvSpPr>
        <p:spPr>
          <a:xfrm>
            <a:off x="735400" y="2287250"/>
            <a:ext cx="7608900" cy="13272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Some notes on the game pillars you are working on, or on the prototype you sent together with the deck.</a:t>
            </a:r>
            <a:r>
              <a:rPr lang="en-GB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ctrTitle"/>
          </p:nvPr>
        </p:nvSpPr>
        <p:spPr>
          <a:xfrm>
            <a:off x="814625" y="688650"/>
            <a:ext cx="7308300" cy="17607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Development Budget Request + Time for Development Needed</a:t>
            </a:r>
            <a:endParaRPr sz="36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"/>
          </p:nvPr>
        </p:nvSpPr>
        <p:spPr>
          <a:xfrm>
            <a:off x="311700" y="2720093"/>
            <a:ext cx="8520600" cy="12768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"We would need X budget over Y months." </a:t>
            </a: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Be clear on monthly burn and total, and leave a 15 to 20% buffer for the unexpected.</a:t>
            </a:r>
            <a:r>
              <a:rPr lang="en-GB" sz="217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</a:t>
            </a:r>
            <a:endParaRPr sz="217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ctrTitle"/>
          </p:nvPr>
        </p:nvSpPr>
        <p:spPr>
          <a:xfrm>
            <a:off x="1409450" y="736875"/>
            <a:ext cx="6218400" cy="14826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7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Services and Publisher’s Request</a:t>
            </a:r>
            <a:endParaRPr sz="407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1"/>
          </p:nvPr>
        </p:nvSpPr>
        <p:spPr>
          <a:xfrm>
            <a:off x="711100" y="2431950"/>
            <a:ext cx="7712100" cy="17049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6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Beyond development money, what you want from a publisher: platforms, QA, marketing, commercial opportunities, influencer connections. </a:t>
            </a:r>
            <a:endParaRPr sz="196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6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6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This plus the dev budget is the real all-in investment a publisher will weigh. </a:t>
            </a:r>
            <a:endParaRPr sz="196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ctrTitle"/>
          </p:nvPr>
        </p:nvSpPr>
        <p:spPr>
          <a:xfrm>
            <a:off x="822900" y="724884"/>
            <a:ext cx="7498200" cy="13044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Team + Experience</a:t>
            </a:r>
            <a:endParaRPr sz="45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1"/>
          </p:nvPr>
        </p:nvSpPr>
        <p:spPr>
          <a:xfrm>
            <a:off x="1076850" y="2219397"/>
            <a:ext cx="6681300" cy="1735200"/>
          </a:xfrm>
          <a:prstGeom prst="rect">
            <a:avLst/>
          </a:prstGeom>
        </p:spPr>
        <p:txBody>
          <a:bodyPr wrap="square" lIns="91425" tIns="91425" rIns="91425" bIns="91425" anchor="t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Who is on the team and what they have shipped. </a:t>
            </a: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70" spc="-150">
                <a:solidFill>
                  <a:srgbClr val="ECEFF6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If you are solo right now, it helps to name 1 or 2 freelancers you have in mind for the key roles. </a:t>
            </a:r>
            <a:endParaRPr sz="2170" spc="-150">
              <a:solidFill>
                <a:srgbClr val="ECEFF6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ctrTitle"/>
          </p:nvPr>
        </p:nvSpPr>
        <p:spPr>
          <a:xfrm>
            <a:off x="311700" y="1576802"/>
            <a:ext cx="8520600" cy="1182000"/>
          </a:xfrm>
          <a:prstGeom prst="rect">
            <a:avLst/>
          </a:prstGeom>
        </p:spPr>
        <p:txBody>
          <a:bodyPr wrap="square" lIns="91425" tIns="91425" rIns="91425" bIns="91425" anchor="b" anchorCtr="0" spcFirstLastPara="1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 spc="-300">
                <a:solidFill>
                  <a:srgbClr val="E5B415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Thank you and Contacts</a:t>
            </a:r>
            <a:endParaRPr sz="4500" b="1" spc="-300">
              <a:solidFill>
                <a:srgbClr val="E5B415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